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84FC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84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18C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D8E1E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Mileage</c:v>
                </c:pt>
                <c:pt idx="1">
                  <c:v>Year</c:v>
                </c:pt>
                <c:pt idx="2">
                  <c:v>Car Age</c:v>
                </c:pt>
                <c:pt idx="3">
                  <c:v>Transmission</c:v>
                </c:pt>
                <c:pt idx="4">
                  <c:v>Engine Size</c:v>
                </c:pt>
                <c:pt idx="5">
                  <c:v>Engine-MPG Ratio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0.0623</c:v>
                </c:pt>
                <c:pt idx="1">
                  <c:v>0.1052</c:v>
                </c:pt>
                <c:pt idx="2">
                  <c:v>0.1119</c:v>
                </c:pt>
                <c:pt idx="3">
                  <c:v>0.159</c:v>
                </c:pt>
                <c:pt idx="4">
                  <c:v>0.1671</c:v>
                </c:pt>
                <c:pt idx="5">
                  <c:v>0.2323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D8E1E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</c:scaling>
        <c:delete val="0"/>
        <c:axPos val="b"/>
        <c:majorGridlines>
          <c:spPr>
            <a:ln w="12700" cap="flat" cmpd="sng" algn="ctr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8A97A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E1526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38fd143-8d49-4133-9be9-a5a04b357f2f}"/>
      </c:ext>
    </c:extLst>
  </c:chart>
  <c:spPr>
    <a:solidFill>
      <a:srgbClr val="0E1526"/>
    </a:solidFill>
    <a:ln w="12700" cap="flat">
      <a:solidFill>
        <a:srgbClr val="0E1526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R² by Model</c:v>
                </c:pt>
              </c:strCache>
            </c:strRef>
          </c:tx>
          <c:spPr>
            <a:solidFill>
              <a:srgbClr val="3B5BA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D8E1E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0.868</c:v>
                </c:pt>
                <c:pt idx="1">
                  <c:v>0.914</c:v>
                </c:pt>
                <c:pt idx="2">
                  <c:v>0.9569</c:v>
                </c:pt>
                <c:pt idx="3">
                  <c:v>0.938</c:v>
                </c:pt>
                <c:pt idx="4">
                  <c:v>0.951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D8E1E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12700" cap="flat" cmpd="sng" algn="ctr">
              <a:solidFill>
                <a:srgbClr val="1E293B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8A97A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E1526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2fba7ed-027f-494e-a8a3-cb04b8a44059}"/>
      </c:ext>
    </c:extLst>
  </c:chart>
  <c:spPr>
    <a:solidFill>
      <a:srgbClr val="0E1526"/>
    </a:solidFill>
    <a:ln w="12700" cap="flat">
      <a:solidFill>
        <a:srgbClr val="0E1526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RMSE by Model</c:v>
                </c:pt>
              </c:strCache>
            </c:strRef>
          </c:tx>
          <c:spPr>
            <a:solidFill>
              <a:srgbClr val="3B5BA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5BA5"/>
              </a:solidFill>
              <a:effectLst/>
            </c:spPr>
          </c:dPt>
          <c:dLbls>
            <c:numFmt formatCode="&quot;£&quot;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D8E1E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3520</c:v>
                </c:pt>
                <c:pt idx="1">
                  <c:v>2840</c:v>
                </c:pt>
                <c:pt idx="2">
                  <c:v>2010</c:v>
                </c:pt>
                <c:pt idx="3">
                  <c:v>2410</c:v>
                </c:pt>
                <c:pt idx="4">
                  <c:v>2140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D8E1E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 cmpd="sng" algn="ctr">
              <a:solidFill>
                <a:srgbClr val="1E293B"/>
              </a:solidFill>
              <a:prstDash val="solid"/>
              <a:round/>
            </a:ln>
          </c:spPr>
        </c:majorGridlines>
        <c:numFmt formatCode="&quot;£&quot;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8A97A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E1526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a034dc4-b50f-4cf9-8080-3cc4c760ab47}"/>
      </c:ext>
    </c:extLst>
  </c:chart>
  <c:spPr>
    <a:solidFill>
      <a:srgbClr val="0E1526"/>
    </a:solidFill>
    <a:ln w="12700" cap="flat">
      <a:solidFill>
        <a:srgbClr val="0E1526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84FC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84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18C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D8E1E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Mileage</c:v>
                </c:pt>
                <c:pt idx="1">
                  <c:v>Year</c:v>
                </c:pt>
                <c:pt idx="2">
                  <c:v>Car Age</c:v>
                </c:pt>
                <c:pt idx="3">
                  <c:v>Transmission</c:v>
                </c:pt>
                <c:pt idx="4">
                  <c:v>Engine Size</c:v>
                </c:pt>
                <c:pt idx="5">
                  <c:v>Engine-MPG Ratio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0.0623</c:v>
                </c:pt>
                <c:pt idx="1">
                  <c:v>0.1052</c:v>
                </c:pt>
                <c:pt idx="2">
                  <c:v>0.1119</c:v>
                </c:pt>
                <c:pt idx="3">
                  <c:v>0.159</c:v>
                </c:pt>
                <c:pt idx="4">
                  <c:v>0.1671</c:v>
                </c:pt>
                <c:pt idx="5">
                  <c:v>0.2323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D8E1E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</c:scaling>
        <c:delete val="0"/>
        <c:axPos val="b"/>
        <c:majorGridlines>
          <c:spPr>
            <a:ln w="12700" cap="flat" cmpd="sng" algn="ctr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8A97A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E1526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eac2b12-8378-4522-a29e-3c4cf311dfa6}"/>
      </c:ext>
    </c:extLst>
  </c:chart>
  <c:spPr>
    <a:solidFill>
      <a:srgbClr val="0E1526"/>
    </a:solidFill>
    <a:ln w="12700" cap="flat">
      <a:solidFill>
        <a:srgbClr val="0E1526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92928" y="105156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12745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Used Car Price &amp; Deal Advisor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MACHINE LEARNING REGRESSION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75608" y="470916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0E1526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5608" y="470916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Presented by: </a:t>
            </a: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Alaa Shaaban</a:t>
            </a:r>
            <a:endParaRPr lang="en-US" sz="1300" dirty="0"/>
          </a:p>
        </p:txBody>
      </p:sp>
      <p:pic>
        <p:nvPicPr>
          <p:cNvPr id="12" name="Picture 11" descr="1"/>
          <p:cNvPicPr>
            <a:picLocks noChangeAspect="1"/>
          </p:cNvPicPr>
          <p:nvPr/>
        </p:nvPicPr>
        <p:blipFill>
          <a:blip r:embed="rId1"/>
          <a:srcRect l="51510"/>
          <a:stretch>
            <a:fillRect/>
          </a:stretch>
        </p:blipFill>
        <p:spPr>
          <a:xfrm>
            <a:off x="5593080" y="974090"/>
            <a:ext cx="1005840" cy="1161415"/>
          </a:xfrm>
          <a:prstGeom prst="roundRect">
            <a:avLst>
              <a:gd name="adj" fmla="val 21576"/>
            </a:avLst>
          </a:prstGeom>
          <a:ln>
            <a:solidFill>
              <a:srgbClr val="22D3EE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Predict used-car market prices from vehicle characteristics.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Regression problem with Price as the target variable.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Dataset covers nine UK manufacturers.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Extend prediction into a Smart Deal Advisor.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Deploy the final model through an interactive Streamlit application.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Dataset &amp; Data Preparation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Initial combined dataset: 108,540 rows × 10 columns.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2,273 exact duplicates were removed.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 invalid year records (1970 and 2060) were removed.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280 zero engine-size values were converted to missing after cleaning.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Missing tax and MPG were retained for later imputation.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Final cleaned dataset: 106,264 rows × 10 columns.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 ·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Price distribution is strongly right-skewed; most cars are below £20,000.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Higher mileage generally corresponds to lower prices.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Newer vehicles generally have higher prices.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Mercedes, Audi, and BMW have higher average prices in this dataset.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Transmission and fuel type show noticeable differences in price distributions.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Engine size, year, and mileage have relatively strong linear associations with price.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 ·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 Engineering &amp; Preprocessing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C223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Car Age
</a:t>
            </a:r>
            <a:r>
              <a:rPr lang="en-US" sz="10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= 2021 −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91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C223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691640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Mileage Per Year
</a:t>
            </a:r>
            <a:r>
              <a:rPr lang="en-US" sz="10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= Mileage / Car 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C223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91640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Engine-MPG Ratio
</a:t>
            </a:r>
            <a:r>
              <a:rPr lang="en-US" sz="10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= Engine Size / MPG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576072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Numerical features: median imputation + StandardScaler.</a:t>
            </a:r>
            <a:endParaRPr lang="en-US" sz="13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Categorical features: most-frequent imputation + One-Hot Encoding.</a:t>
            </a:r>
            <a:endParaRPr lang="en-US" sz="13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Preprocessing was fitted only on training data to prevent leakage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69164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graphicFrame>
        <p:nvGraphicFramePr>
          <p:cNvPr id="16" name="Chart 0"/>
          <p:cNvGraphicFramePr/>
          <p:nvPr/>
        </p:nvGraphicFramePr>
        <p:xfrm>
          <a:off x="6858000" y="1828800"/>
          <a:ext cx="47548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858000" y="571500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(Chart: Top Grouped Feature Importances)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05 · MODELS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Validation R² by Model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77240" y="237744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187452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Validation RMSE by Model</a:t>
            </a:r>
            <a:endParaRPr lang="en-US" sz="12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6400800" y="237744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(Charts: Validation R² by Model, Validation RMSE by Model)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06 · TUNING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Model Selection &amp; Hyperparameter Tuning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Five models were compared: Linear Regression, Decision Tree, Random Forest, Gradient Boosting, and XGBoost.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Random Forest achieved the strongest validation R²: 0.9569.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RandomizedSearchCV used 3-fold cross-validation and 6 sampled configurations.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Best configuration: 100 trees, max_depth=20, max_features=0.5.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Tuned validation R² improved to 0.9578.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Training R² decreased from 0.9937 to 0.9862, reducing the train-validation gap.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07 · RESULTS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Final Model Performance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0C22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520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R²
</a:t>
            </a: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0.9652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0C22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783080"/>
            <a:ext cx="3520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MAE
</a:t>
            </a: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£1,164.69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0C22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3520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RMSE
</a:t>
            </a: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£1,823.59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Final model: tuned Random Forest Regressor.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Evaluation was performed once on the untouched test set.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model explains approximately 96.5% of test-set price variation.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08 · INTERPRETABILITY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Model Understanding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6126480" cy="4023360"/>
          </a:xfrm>
          <a:prstGeom prst="roundRect">
            <a:avLst>
              <a:gd name="adj" fmla="val 1818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graphicFrame>
        <p:nvGraphicFramePr>
          <p:cNvPr id="9" name="Chart 0"/>
          <p:cNvGraphicFramePr/>
          <p:nvPr/>
        </p:nvGraphicFramePr>
        <p:xfrm>
          <a:off x="777240" y="1965960"/>
          <a:ext cx="58521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5897880"/>
            <a:ext cx="5852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(Chart: Top Grouped Feature Importances)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223760" y="196596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0" y="2130552"/>
            <a:ext cx="164592" cy="16459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13" name="Text 10"/>
          <p:cNvSpPr/>
          <p:nvPr/>
        </p:nvSpPr>
        <p:spPr>
          <a:xfrm>
            <a:off x="7680960" y="196596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Engine-MPG Ratio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241280" y="1965960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0.2323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23760" y="2587752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0" y="2752344"/>
            <a:ext cx="164592" cy="164592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7" name="Text 14"/>
          <p:cNvSpPr/>
          <p:nvPr/>
        </p:nvSpPr>
        <p:spPr>
          <a:xfrm>
            <a:off x="7680960" y="2587752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Engine Size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241280" y="2587752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0.1671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3209544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06640" y="3374136"/>
            <a:ext cx="164592" cy="164592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21" name="Text 18"/>
          <p:cNvSpPr/>
          <p:nvPr/>
        </p:nvSpPr>
        <p:spPr>
          <a:xfrm>
            <a:off x="7680960" y="3209544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241280" y="3209544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0.1590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23760" y="3831336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06640" y="3995928"/>
            <a:ext cx="164592" cy="164592"/>
          </a:xfrm>
          <a:prstGeom prst="rect">
            <a:avLst/>
          </a:prstGeom>
          <a:solidFill>
            <a:srgbClr val="818CF8"/>
          </a:solidFill>
        </p:spPr>
      </p:sp>
      <p:sp>
        <p:nvSpPr>
          <p:cNvPr id="25" name="Text 22"/>
          <p:cNvSpPr/>
          <p:nvPr/>
        </p:nvSpPr>
        <p:spPr>
          <a:xfrm>
            <a:off x="7680960" y="3831336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Car 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41280" y="3831336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0.1119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223760" y="4453128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0" y="4617720"/>
            <a:ext cx="164592" cy="164592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29" name="Text 26"/>
          <p:cNvSpPr/>
          <p:nvPr/>
        </p:nvSpPr>
        <p:spPr>
          <a:xfrm>
            <a:off x="7680960" y="4453128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Year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241280" y="4453128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0.1052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223760" y="50749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06640" y="5239512"/>
            <a:ext cx="164592" cy="164592"/>
          </a:xfrm>
          <a:prstGeom prst="rect">
            <a:avLst/>
          </a:prstGeom>
          <a:solidFill>
            <a:srgbClr val="C084FC"/>
          </a:solidFill>
        </p:spPr>
      </p:sp>
      <p:sp>
        <p:nvSpPr>
          <p:cNvPr id="33" name="Text 30"/>
          <p:cNvSpPr/>
          <p:nvPr/>
        </p:nvSpPr>
        <p:spPr>
          <a:xfrm>
            <a:off x="7680960" y="507492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Mileage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241280" y="5074920"/>
            <a:ext cx="1234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0.0623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09 · DIAGNOSTICS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Large Prediction Error Investigation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4526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Large errors included premium or relatively uncommon vehicles.</a:t>
            </a:r>
            <a:endParaRPr lang="en-US" sz="14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Examples: Audi R8, BMW X5, Mercedes C Class, Mercedes S Class, Volkswagen Caravelle, Ford Mustang.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0E152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310896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Audi R8
</a:t>
            </a: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Actual:  £125,000
</a:t>
            </a:r>
            <a:r>
              <a:rPr lang="en-US" sz="1200" b="1" dirty="0">
                <a:solidFill>
                  <a:srgbClr val="F59E0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Predicted:  ≈ £95,112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30632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0E152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063240"/>
            <a:ext cx="310896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BMW X5
</a:t>
            </a: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Actual:  £39,948
</a:t>
            </a:r>
            <a:r>
              <a:rPr lang="en-US" sz="1200" b="1" dirty="0">
                <a:solidFill>
                  <a:srgbClr val="F59E0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Predicted:  ≈ £13,352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30632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0E1526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3063240"/>
            <a:ext cx="310896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Ford Mustang
</a:t>
            </a:r>
            <a:r>
              <a:rPr lang="en-US" sz="12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Actual:  £32,990
</a:t>
            </a:r>
            <a:r>
              <a:rPr lang="en-US" sz="1200" b="1" dirty="0">
                <a:solidFill>
                  <a:srgbClr val="FB718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Predicted:  ≈ £52,638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These cases may reflect limited similar examples and factors not represented in the dataset.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 · APPLICATION LOGIC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Smart Deal Advisor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More than 10% below predicted price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1691640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773936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60A1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73936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Great Deal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5000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50008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5% to 10% below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2350008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432304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60A1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432304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E63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Good Deal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0837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08376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Within ±5%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3008376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309067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60A1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090672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Fair Price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66674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666744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More than 5% to 10% above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666744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374904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60A1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7490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Slightly Overpriced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32511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0E15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325112"/>
            <a:ext cx="6583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More than 10% above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89520" y="4325112"/>
            <a:ext cx="457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0" y="4407408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60A14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407408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Overpriced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0C22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Example:  </a:t>
            </a:r>
            <a:r>
              <a:rPr lang="en-US" sz="13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£15,682 predicted vs. £15,000 seller price → -4.35% → Fair Price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11 · 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Streamlit Application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Interactive application built with Streamlit.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Inputs: Make, Model, Year, Mileage, Transmission, Fuel Type, Engine Size, Seller Price.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Outputs: estimated market price, difference, percentage difference, and deal rating.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Loads the saved Random Forest model and preprocessing pipeline.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Tested successfully through a public ngrok tunnel.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 · HONEST ASSESSMENT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Dataset features do not include vehicle condition, service history, owners, optional equipment, location, accident history, or warranty.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Rare premium and performance vehicles can produce larger errors.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Deal Advisor is a pricing aid, not a guarantee of actual market value.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Tax and MPG are imputed in the Streamlit app because they are not required application inputs.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457200" cy="2743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6" name="Text 4"/>
          <p:cNvSpPr/>
          <p:nvPr/>
        </p:nvSpPr>
        <p:spPr>
          <a:xfrm>
            <a:off x="1051560" y="402336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 · TAKEAWAYS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Key Learning Outcomes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Multi-file data integration and quality investigation.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Evidence-based cleaning and exploratory analysis.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 engineering and leakage-safe preprocessing.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Regression model comparison and overfitting analysis.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Hyperparameter tuning and final test evaluation.</a:t>
            </a:r>
            <a:endParaRPr lang="en-US" sz="1600" dirty="0"/>
          </a:p>
          <a:p>
            <a:pPr marL="279400" indent="-2794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8E1E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 importance, error analysis, model serialization, and Streamlit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74552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7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AutoWorth AI · Used Car Price &amp; Deal Advisor · Alaa Shaaban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3886200"/>
            <a:ext cx="3200400" cy="0"/>
          </a:xfrm>
          <a:prstGeom prst="line">
            <a:avLst/>
          </a:prstGeom>
          <a:noFill/>
          <a:ln w="9525">
            <a:solidFill>
              <a:srgbClr val="60A5F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4701</Words>
  <Application>WPS Presentation</Application>
  <PresentationFormat>On-screen Show (16:9)</PresentationFormat>
  <Paragraphs>268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Segoe UI</vt:lpstr>
      <vt:lpstr>Segoe UI</vt:lpstr>
      <vt:lpstr>Segoe UI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AutoWorth AI — Used Car Price &amp; Deal Advisor</dc:title>
  <dc:creator>Alaa Shaaban</dc:creator>
  <dc:subject>PptxGenJS Presentation</dc:subject>
  <cp:lastModifiedBy>Alaa Shaaban</cp:lastModifiedBy>
  <cp:revision>2</cp:revision>
  <dcterms:created xsi:type="dcterms:W3CDTF">2026-09-30T23:50:00Z</dcterms:created>
  <dcterms:modified xsi:type="dcterms:W3CDTF">2026-10-01T01:16:32Z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2EFFB1ADFC9B4F37BE310FEF72CFD044_12</vt:lpwstr>
  </property>
</Properties>
</file>